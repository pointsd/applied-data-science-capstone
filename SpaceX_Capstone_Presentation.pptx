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Applied Data Science Capstone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731520" y="29718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the Successful Landing of the Falcon 9 First Stage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37033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 Launch Records  ·  Machine Learning  ·  Interactive Analytics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4937760"/>
            <a:ext cx="2377440" cy="54864"/>
          </a:xfrm>
          <a:prstGeom prst="rect">
            <a:avLst/>
          </a:prstGeom>
          <a:solidFill>
            <a:srgbClr val="FF5A3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51206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Data Science Professional Certificate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4864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Author: Pointsd  · 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Summary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01168" cy="201168"/>
          </a:xfrm>
          <a:prstGeom prst="ellipse">
            <a:avLst/>
          </a:prstGeom>
          <a:solidFill>
            <a:srgbClr val="FF5A3C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55448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Methodologies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96596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via SpaceX REST API and Wikipedia web scraping; data wrangling; EDA with SQL and visualization; interactive maps (Folium) and dashboard (Plotly Dash); predictive classification models.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703320"/>
            <a:ext cx="201168" cy="201168"/>
          </a:xfrm>
          <a:prstGeom prst="ellipse">
            <a:avLst/>
          </a:prstGeom>
          <a:solidFill>
            <a:srgbClr val="FF5A3C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6576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Results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406908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landing success rate of ~67%. Success improves with flight experience and varies strongly by orbit and launch site. Four classifiers reached ~83% test accuracy in predicting first-stage landing.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determine if the Falcon 9 first stage will land, enabling launch-cost estimation (a reused stage costs ~$62M vs ~$165M).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56692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 advertises Falcon 9 launches at $62M; other providers cost up to $165M.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 of the saving comes from reusing the first stage.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we can predict whether the first stage lands, we can estimate launch cost.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valuable for any company competing to bid against SpaceX.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0" y="14630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675120" y="1874520"/>
            <a:ext cx="49377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factors determine a successful landing?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payload, orbit and launch site affect success?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has success rate changed over the years?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classification model best predicts landing?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Methodology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2011680"/>
            <a:ext cx="2148840" cy="2743200"/>
          </a:xfrm>
          <a:prstGeom prst="roundRect">
            <a:avLst/>
          </a:prstGeom>
          <a:solidFill>
            <a:srgbClr val="13204A"/>
          </a:solidFill>
          <a:ln w="12700">
            <a:solidFill>
              <a:srgbClr val="FF5A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24028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379476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 REST API + Wikipedia web scraping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834640" y="2011680"/>
            <a:ext cx="2148840" cy="2743200"/>
          </a:xfrm>
          <a:prstGeom prst="roundRect">
            <a:avLst/>
          </a:prstGeom>
          <a:solidFill>
            <a:srgbClr val="13204A"/>
          </a:solidFill>
          <a:ln w="12700">
            <a:solidFill>
              <a:srgbClr val="FF5A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34640" y="224028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926080" y="306324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Wrangling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44368" y="379476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Cleaning, one-hot encoding, landing label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120640" y="2011680"/>
            <a:ext cx="2148840" cy="2743200"/>
          </a:xfrm>
          <a:prstGeom prst="roundRect">
            <a:avLst/>
          </a:prstGeom>
          <a:solidFill>
            <a:srgbClr val="13204A"/>
          </a:solidFill>
          <a:ln w="12700">
            <a:solidFill>
              <a:srgbClr val="FF5A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0" y="224028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5212080" y="306324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30368" y="379476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queries + visual exploration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406640" y="2011680"/>
            <a:ext cx="2148840" cy="2743200"/>
          </a:xfrm>
          <a:prstGeom prst="roundRect">
            <a:avLst/>
          </a:prstGeom>
          <a:solidFill>
            <a:srgbClr val="13204A"/>
          </a:solidFill>
          <a:ln w="12700">
            <a:solidFill>
              <a:srgbClr val="FF5A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06640" y="224028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7498080" y="306324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Viz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516368" y="379476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 maps + Plotly Dash dashboard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92640" y="2011680"/>
            <a:ext cx="2148840" cy="2743200"/>
          </a:xfrm>
          <a:prstGeom prst="roundRect">
            <a:avLst/>
          </a:prstGeom>
          <a:solidFill>
            <a:srgbClr val="13204A"/>
          </a:solidFill>
          <a:ln w="12700">
            <a:solidFill>
              <a:srgbClr val="FF5A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0" y="224028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9784080" y="306324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802368" y="379476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LogReg, SVM, Decision Tree, KNN + GridSearch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Collection — SpaceX API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7315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GET request to the SpaceX REST API (/launches/past)</a:t>
            </a:r>
            <a:endParaRPr lang="en-US" sz="15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Decode JSON response into a DataFrame with pd.json_normalize()</a:t>
            </a:r>
            <a:endParaRPr lang="en-US" sz="15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Query helper endpoints (rocket, payload, launchpad, cores) to enrich rows</a:t>
            </a:r>
            <a:endParaRPr lang="en-US" sz="15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Filter to Falcon 9 launches; replace missing PayloadMass with the mean</a:t>
            </a:r>
            <a:endParaRPr lang="en-US" sz="15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Export the cleaned dataset to CSV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8229600" y="1737360"/>
            <a:ext cx="3291840" cy="2743200"/>
          </a:xfrm>
          <a:prstGeom prst="roundRect">
            <a:avLst/>
          </a:prstGeom>
          <a:solidFill>
            <a:srgbClr val="F4F6FB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1737360"/>
            <a:ext cx="32918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0B14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 → JSON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0B14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json_normalize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0B14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DataFrame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0B14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enrich + clean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0B14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 Falcon 9 launches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6126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https://github.com/Pointsd/Applied-Data-Science-Capstone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Collection — Web Scraping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7315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HTTP GET on the Wikipedia 'List of Falcon 9 and Falcon Heavy launches' page</a:t>
            </a:r>
            <a:endParaRPr lang="en-US" sz="15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Parse the HTML with BeautifulSoup</a:t>
            </a:r>
            <a:endParaRPr lang="en-US" sz="15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Locate the launch records table (wikitable)</a:t>
            </a:r>
            <a:endParaRPr lang="en-US" sz="15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Extract column headers, then iterate rows to collect each launch record</a:t>
            </a:r>
            <a:endParaRPr lang="en-US" sz="15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Build a DataFrame and export to CSV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8229600" y="1737360"/>
            <a:ext cx="3291840" cy="2743200"/>
          </a:xfrm>
          <a:prstGeom prst="roundRect">
            <a:avLst/>
          </a:prstGeom>
          <a:solidFill>
            <a:srgbClr val="F4F6FB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1737360"/>
            <a:ext cx="32918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0B14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Wiki page</a:t>
            </a:r>
            <a:endParaRPr lang="en-US" sz="14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0B14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requests.get</a:t>
            </a:r>
            <a:endParaRPr lang="en-US" sz="14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0B14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</a:t>
            </a:r>
            <a:endParaRPr lang="en-US" sz="14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0B14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BeautifulSoup</a:t>
            </a:r>
            <a:endParaRPr lang="en-US" sz="14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0B14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find table + rows</a:t>
            </a:r>
            <a:endParaRPr lang="en-US" sz="14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0B14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DataFrame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6126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https://github.com/Pointsd/Applied-Data-Science-Capstone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Wrangling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107899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launches per site, per orbit, and per landing outcome with value_counts().</a:t>
            </a:r>
            <a:endParaRPr lang="en-US" sz="16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outcomes (True ASDS, True RTLS, True Ocean ...) were mapped to a binary label.</a:t>
            </a:r>
            <a:endParaRPr lang="en-US" sz="16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= 1 for a successful landing, Class = 0 for an unsuccessful one.</a:t>
            </a:r>
            <a:endParaRPr lang="en-US" sz="16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Resulting training label has 60 successes and 30 failures (mean success ≈ 0.667).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4297680"/>
            <a:ext cx="5212080" cy="1280160"/>
          </a:xfrm>
          <a:prstGeom prst="roundRect">
            <a:avLst/>
          </a:prstGeom>
          <a:solidFill>
            <a:srgbClr val="0B143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389120"/>
            <a:ext cx="1463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103120" y="45262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landings (Class = 1)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0" y="4297680"/>
            <a:ext cx="5212080" cy="1280160"/>
          </a:xfrm>
          <a:prstGeom prst="roundRect">
            <a:avLst/>
          </a:prstGeom>
          <a:solidFill>
            <a:srgbClr val="1A2540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0" y="4389120"/>
            <a:ext cx="1463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3D7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7680960" y="45262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landings (Class = 0)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6126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https://github.com/Pointsd/Applied-Data-Science-Capstone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EDA with Data Visualization — Approach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737360"/>
            <a:ext cx="107899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6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plots: Flight Number vs Launch Site / Orbit, and Payload vs Launch Site / Orbit, to reveal how experience and payload relate to success.</a:t>
            </a:r>
            <a:endParaRPr lang="en-US" sz="165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6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chart: success rate per orbit type, to compare orbits directly.</a:t>
            </a:r>
            <a:endParaRPr lang="en-US" sz="165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6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chart: yearly average success rate, to expose the long-term trend.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https://github.com/Pointsd/Applied-Data-Science-Capstone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EDA with SQL — Queries Performed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107899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launch sites and launches beginning with 'CCA'.</a:t>
            </a:r>
            <a:endParaRPr lang="en-US" sz="15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and average payload mass (e.g. by booster version F9 v1.1).</a:t>
            </a:r>
            <a:endParaRPr lang="en-US" sz="15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successful ground-pad landing date; boosters with success on drone ship in a payload range.</a:t>
            </a:r>
            <a:endParaRPr lang="en-US" sz="15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of mission outcomes; boosters that carried the maximum payload.</a:t>
            </a:r>
            <a:endParaRPr lang="en-US" sz="15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2015 failed landing records and a ranked count of outcomes between 2010-06 and 2017-03.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https://github.com/Pointsd/Applied-Data-Science-Capstone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Interactive Visual Analytics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5394960" cy="3017520"/>
          </a:xfrm>
          <a:prstGeom prst="roundRect">
            <a:avLst/>
          </a:prstGeom>
          <a:solidFill>
            <a:srgbClr val="13204A"/>
          </a:solidFill>
          <a:ln w="12700">
            <a:solidFill>
              <a:srgbClr val="FF5A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0116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 Maps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2606040"/>
            <a:ext cx="49377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Marked all launch sites on an interactive map.</a:t>
            </a:r>
            <a:endParaRPr lang="en-US" sz="14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Colored markers/clusters by success vs failure.</a:t>
            </a:r>
            <a:endParaRPr lang="en-US" sz="14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proximity to coast, railways and cities.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217920" y="1828800"/>
            <a:ext cx="5394960" cy="3017520"/>
          </a:xfrm>
          <a:prstGeom prst="roundRect">
            <a:avLst/>
          </a:prstGeom>
          <a:solidFill>
            <a:srgbClr val="13204A"/>
          </a:solidFill>
          <a:ln w="12700">
            <a:solidFill>
              <a:srgbClr val="3D7B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0" y="20116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 Dash Dashboard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46520" y="2606040"/>
            <a:ext cx="49377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Dropdown to select launch site.</a:t>
            </a:r>
            <a:endParaRPr lang="en-US" sz="14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chart of successful launches.</a:t>
            </a:r>
            <a:endParaRPr lang="en-US" sz="14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Payload-range slider + payload-vs-outcome scatter.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0080" y="6126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F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https://github.com/Pointsd/Applied-Data-Science-Capstone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EDA Results — Flight Number vs Launch Site</a:t>
            </a:r>
            <a:endParaRPr lang="en-US" sz="3200" dirty="0"/>
          </a:p>
        </p:txBody>
      </p:sp>
      <p:pic>
        <p:nvPicPr>
          <p:cNvPr id="3" name="Image 0" descr="/Users/sokhib/capstone_spacex/images/eda_flight_vs_si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463040"/>
            <a:ext cx="7680960" cy="42976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778240" y="2011680"/>
            <a:ext cx="2834640" cy="3108960"/>
          </a:xfrm>
          <a:prstGeom prst="roundRect">
            <a:avLst/>
          </a:prstGeom>
          <a:solidFill>
            <a:srgbClr val="F4F6FB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961120" y="2194560"/>
            <a:ext cx="2514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 flights (higher experience) show more successes. CCAFS SLC 40 carries the most launches across all phases.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822960" y="6172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https://github.com/Pointsd/Applied-Data-Science-Capstone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EDA Results — Payload vs Launch Site</a:t>
            </a:r>
            <a:endParaRPr lang="en-US" sz="3200" dirty="0"/>
          </a:p>
        </p:txBody>
      </p:sp>
      <p:pic>
        <p:nvPicPr>
          <p:cNvPr id="3" name="Image 0" descr="/Users/sokhib/capstone_spacex/images/eda_payload_vs_si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463040"/>
            <a:ext cx="7680960" cy="42976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778240" y="2011680"/>
            <a:ext cx="2834640" cy="3108960"/>
          </a:xfrm>
          <a:prstGeom prst="roundRect">
            <a:avLst/>
          </a:prstGeom>
          <a:solidFill>
            <a:srgbClr val="F4F6FB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961120" y="2194560"/>
            <a:ext cx="2514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Heavier payloads are associated with more successful landings, especially at KSC LC 39A.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822960" y="6172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https://github.com/Pointsd/Applied-Data-Science-Capstone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EDA Results — Success Rate by Orbit</a:t>
            </a:r>
            <a:endParaRPr lang="en-US" sz="3200" dirty="0"/>
          </a:p>
        </p:txBody>
      </p:sp>
      <p:pic>
        <p:nvPicPr>
          <p:cNvPr id="3" name="Image 0" descr="/Users/sokhib/capstone_spacex/images/eda_success_by_orbi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463040"/>
            <a:ext cx="7680960" cy="42976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778240" y="2011680"/>
            <a:ext cx="2834640" cy="3108960"/>
          </a:xfrm>
          <a:prstGeom prst="roundRect">
            <a:avLst/>
          </a:prstGeom>
          <a:solidFill>
            <a:srgbClr val="F4F6FB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961120" y="2194560"/>
            <a:ext cx="2514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Orbits such as ES-L1, GEO, HEO and SSO show the highest landing success; GTO is among the weakest.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822960" y="6172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https://github.com/Pointsd/Applied-Data-Science-Capstone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EDA Results — Flight Number vs Orbit</a:t>
            </a:r>
            <a:endParaRPr lang="en-US" sz="3200" dirty="0"/>
          </a:p>
        </p:txBody>
      </p:sp>
      <p:pic>
        <p:nvPicPr>
          <p:cNvPr id="3" name="Image 0" descr="/Users/sokhib/capstone_spacex/images/eda_flight_vs_orbi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463040"/>
            <a:ext cx="7680960" cy="42976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778240" y="2011680"/>
            <a:ext cx="2834640" cy="3108960"/>
          </a:xfrm>
          <a:prstGeom prst="roundRect">
            <a:avLst/>
          </a:prstGeom>
          <a:solidFill>
            <a:srgbClr val="F4F6FB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961120" y="2194560"/>
            <a:ext cx="2514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LEO, success is linked to flight number; in GTO there is no clear relationship.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822960" y="6172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https://github.com/Pointsd/Applied-Data-Science-Capstone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EDA Results — Yearly Success Trend</a:t>
            </a:r>
            <a:endParaRPr lang="en-US" sz="3200" dirty="0"/>
          </a:p>
        </p:txBody>
      </p:sp>
      <p:pic>
        <p:nvPicPr>
          <p:cNvPr id="3" name="Image 0" descr="/Users/sokhib/capstone_spacex/images/eda_yearly_tren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463040"/>
            <a:ext cx="7680960" cy="42976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778240" y="2011680"/>
            <a:ext cx="2834640" cy="3108960"/>
          </a:xfrm>
          <a:prstGeom prst="roundRect">
            <a:avLst/>
          </a:prstGeom>
          <a:solidFill>
            <a:srgbClr val="F4F6FB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961120" y="2194560"/>
            <a:ext cx="2514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rate climbs steadily from 2013 onward as SpaceX accumulates landing experience.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822960" y="6172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https://github.com/Pointsd/Applied-Data-Science-Capstone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EDA with SQL — Key Findings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5303520" cy="1874520"/>
          </a:xfrm>
          <a:prstGeom prst="roundRect">
            <a:avLst/>
          </a:prstGeom>
          <a:solidFill>
            <a:srgbClr val="0B1437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8288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launch sites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68680" y="256032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CCAFS LC-40, KSC LC-39A, VAFB SLC-4E, CCAFS SLC-40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172200" y="1645920"/>
            <a:ext cx="5303520" cy="1874520"/>
          </a:xfrm>
          <a:prstGeom prst="roundRect">
            <a:avLst/>
          </a:prstGeom>
          <a:solidFill>
            <a:srgbClr val="0B143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8288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619,968 kg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400800" y="256032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payload carried by NASA (CRS) boosters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794760"/>
            <a:ext cx="5303520" cy="1874520"/>
          </a:xfrm>
          <a:prstGeom prst="roundRect">
            <a:avLst/>
          </a:prstGeom>
          <a:solidFill>
            <a:srgbClr val="0B1437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97764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2015-12-22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868680" y="470916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successful ground-pad (RTLS) landing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72200" y="3794760"/>
            <a:ext cx="5303520" cy="1874520"/>
          </a:xfrm>
          <a:prstGeom prst="roundRect">
            <a:avLst/>
          </a:prstGeom>
          <a:solidFill>
            <a:srgbClr val="0B1437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397764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F9 B5 B1048+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00800" y="470916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boosters carrying the maximum payload (15,600 kg)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6172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https://github.com/Pointsd/Applied-Data-Science-Capstone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Interactive Map — Folium</a:t>
            </a:r>
            <a:endParaRPr lang="en-US" sz="3200" dirty="0"/>
          </a:p>
        </p:txBody>
      </p:sp>
      <p:pic>
        <p:nvPicPr>
          <p:cNvPr id="3" name="Image 0" descr="/Users/sokhib/capstone_spacex/images/folium_launch_sit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463040"/>
            <a:ext cx="7863840" cy="43891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686800" y="2011680"/>
            <a:ext cx="2926080" cy="3200400"/>
          </a:xfrm>
          <a:prstGeom prst="roundRect">
            <a:avLst/>
          </a:prstGeom>
          <a:solidFill>
            <a:srgbClr val="F4F6FB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869680" y="2194560"/>
            <a:ext cx="26060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launch sites sit near the coast and the equator.</a:t>
            </a:r>
            <a:endParaRPr lang="en-US" sz="13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 color = success rate, size = number of launches.</a:t>
            </a:r>
            <a:endParaRPr lang="en-US" sz="13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are close to railways and highways but away from cities.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640080" y="6217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https://github.com/Pointsd/Applied-Data-Science-Capstone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Plotly Dash — Dashboard Results</a:t>
            </a:r>
            <a:endParaRPr lang="en-US" sz="3200" dirty="0"/>
          </a:p>
        </p:txBody>
      </p:sp>
      <p:pic>
        <p:nvPicPr>
          <p:cNvPr id="3" name="Image 0" descr="/Users/sokhib/capstone_spacex/images/dash_success_pi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5212080" cy="4023360"/>
          </a:xfrm>
          <a:prstGeom prst="rect">
            <a:avLst/>
          </a:prstGeom>
        </p:spPr>
      </p:pic>
      <p:pic>
        <p:nvPicPr>
          <p:cNvPr id="4" name="Image 1" descr="/Users/sokhib/capstone_spacex/images/dash_payload_scatte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26480" y="1554480"/>
            <a:ext cx="5486400" cy="402336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57150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share by site (left) and payload vs outcome by booster version (right).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640080" y="6217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https://github.com/Pointsd/Applied-Data-Science-Capstone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Predictive Analysis — Methodology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6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the feature matrix and split into train / test (80 / 20, 18 test rows).</a:t>
            </a:r>
            <a:endParaRPr lang="en-US" sz="165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6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Logistic Regression, SVM, Decision Tree and KNN.</a:t>
            </a:r>
            <a:endParaRPr lang="en-US" sz="165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6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hyperparameters with GridSearchCV (10-fold cross-validation).</a:t>
            </a:r>
            <a:endParaRPr lang="en-US" sz="165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6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the best model by accuracy and inspected the confusion matrix.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640080" y="6172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https://github.com/Pointsd/Applied-Data-Science-Capstone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Predictive Analysis — Model Comparison</a:t>
            </a:r>
            <a:endParaRPr lang="en-US" sz="3200" dirty="0"/>
          </a:p>
        </p:txBody>
      </p:sp>
      <p:pic>
        <p:nvPicPr>
          <p:cNvPr id="3" name="Image 0" descr="/Users/sokhib/capstone_spacex/images/ml_model_compari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6766560" cy="4114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680960" y="2103120"/>
            <a:ext cx="3931920" cy="2926080"/>
          </a:xfrm>
          <a:prstGeom prst="roundRect">
            <a:avLst/>
          </a:prstGeom>
          <a:solidFill>
            <a:srgbClr val="0B1437"/>
          </a:solidFill>
          <a:ln/>
        </p:spPr>
      </p:sp>
      <p:sp>
        <p:nvSpPr>
          <p:cNvPr id="5" name="Text 2"/>
          <p:cNvSpPr/>
          <p:nvPr/>
        </p:nvSpPr>
        <p:spPr>
          <a:xfrm>
            <a:off x="7680960" y="233172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83.3%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7680960" y="31546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accuracy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955280" y="361188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models reach the same accuracy on the small test set; Decision Tree had the best validation score.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40080" y="6217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https://github.com/Pointsd/Applied-Data-Science-Capstone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Predictive Analysis — Confusion Matrix</a:t>
            </a:r>
            <a:endParaRPr lang="en-US" sz="3200" dirty="0"/>
          </a:p>
        </p:txBody>
      </p:sp>
      <p:pic>
        <p:nvPicPr>
          <p:cNvPr id="3" name="Image 0" descr="/Users/sokhib/capstone_spacex/images/ml_confusion_matri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554480"/>
            <a:ext cx="585216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040880" y="2011680"/>
            <a:ext cx="4572000" cy="3291840"/>
          </a:xfrm>
          <a:prstGeom prst="roundRect">
            <a:avLst/>
          </a:prstGeom>
          <a:solidFill>
            <a:srgbClr val="F4F6FB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223760" y="219456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correctly identifies most successful landings.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weakness is false positives — predicting a landing that did not occur.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data would help separate the classes further.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2960" y="6217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https://github.com/Pointsd/Applied-Data-Science-Capstone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6984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success has risen markedly since 2013 as SpaceX gained experience.</a:t>
            </a:r>
            <a:endParaRPr lang="en-US" sz="17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number, payload mass, orbit type and launch site are all predictive of success.</a:t>
            </a:r>
            <a:endParaRPr lang="en-US" sz="17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Low-weight orbits and certain sites (KSC LC 39A) show the highest success rates.</a:t>
            </a:r>
            <a:endParaRPr lang="en-US" sz="17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tuned classifiers predict landings with ~83% test accuracy.</a:t>
            </a:r>
            <a:endParaRPr lang="en-US" sz="17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enrich with weather and booster-reuse history, and gather more launches to reduce false positives.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31520" y="5486400"/>
            <a:ext cx="2377440" cy="54864"/>
          </a:xfrm>
          <a:prstGeom prst="rect">
            <a:avLst/>
          </a:prstGeom>
          <a:solidFill>
            <a:srgbClr val="FF5A3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Innovation: a deployable bid-estimation tool that turns landing probability into a launch-cost forecast.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Appendix &amp; Resources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notebooks (data collection, wrangling, EDA SQL, EDA viz, Folium, Dash, ML):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7F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https://github.com/Pointsd/Applied-Data-Science-Capstone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SpaceX REST API + Wikipedia launch records (90 Falcon 9 launches).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52120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you!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2026-06-11T08:20:25Z</dcterms:created>
  <dcterms:modified xsi:type="dcterms:W3CDTF">2026-06-11T08:20:25Z</dcterms:modified>
</cp:coreProperties>
</file>